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Q4 Enterprise Strategy &amp; Transformation Review</a:t>
            </a:r>
          </a:p>
          <a:p>
            <a:pPr>
              <a:defRPr sz="1800">
                <a:solidFill>
                  <a:srgbClr val="9CA3AF"/>
                </a:solidFill>
              </a:defRPr>
            </a:pPr>
            <a:r>
              <a:t>Executive Board Briefing | Operational Milestones &amp; FY25 Capital Allocation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497D"/>
                </a:solidFill>
              </a:defRPr>
            </a:pPr>
            <a:r>
              <a:t>Phase 1 Cloud Migration Delivered $3.2M Run-Rate Savings, but Q3 Infrastructure Overruns Require $800K Reallocation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3291840" cy="4206240"/>
          </a:xfrm>
          <a:prstGeom prst="rect">
            <a:avLst/>
          </a:prstGeom>
          <a:solidFill>
            <a:srgbClr val="F3F4F6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b="1" sz="1400">
                <a:solidFill>
                  <a:srgbClr val="1F2937"/>
                </a:solidFill>
              </a:defRPr>
            </a:pPr>
            <a:r>
              <a:t>Column 1: Delivery Velocity</a:t>
            </a:r>
          </a:p>
          <a:p>
            <a:pPr>
              <a:spcBef>
                <a:spcPts val="1000"/>
              </a:spcBef>
              <a:defRPr sz="1100">
                <a:solidFill>
                  <a:srgbClr val="374151"/>
                </a:solidFill>
              </a:defRPr>
            </a:pPr>
            <a:r>
              <a:t>• 42 of 50 Core Apps Migrated (84% complete; on track for Nov 30).</a:t>
            </a:r>
          </a:p>
          <a:p>
            <a:pPr>
              <a:spcBef>
                <a:spcPts val="1000"/>
              </a:spcBef>
              <a:defRPr sz="1100">
                <a:solidFill>
                  <a:srgbClr val="374151"/>
                </a:solidFill>
              </a:defRPr>
            </a:pPr>
            <a:r>
              <a:t>• Latency Reduced by 34ms across core transaction pipelines.</a:t>
            </a:r>
          </a:p>
          <a:p>
            <a:pPr>
              <a:spcBef>
                <a:spcPts val="1000"/>
              </a:spcBef>
              <a:defRPr sz="1100">
                <a:solidFill>
                  <a:srgbClr val="374151"/>
                </a:solidFill>
              </a:defRPr>
            </a:pPr>
            <a:r>
              <a:t>• Zero unplanned downtime during migration windows.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1828800"/>
            <a:ext cx="3291840" cy="4206240"/>
          </a:xfrm>
          <a:prstGeom prst="rect">
            <a:avLst/>
          </a:prstGeom>
          <a:solidFill>
            <a:srgbClr val="FEF3C7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b="1" sz="1400">
                <a:solidFill>
                  <a:srgbClr val="1F2937"/>
                </a:solidFill>
              </a:defRPr>
            </a:pPr>
            <a:r>
              <a:t>Column 2: Financial Variance</a:t>
            </a:r>
          </a:p>
          <a:p>
            <a:pPr>
              <a:spcBef>
                <a:spcPts val="1000"/>
              </a:spcBef>
              <a:defRPr sz="1100">
                <a:solidFill>
                  <a:srgbClr val="374151"/>
                </a:solidFill>
              </a:defRPr>
            </a:pPr>
            <a:r>
              <a:t>• Actual Spend: $12.4M vs $11.6M Plan (+$800K variance).</a:t>
            </a:r>
          </a:p>
          <a:p>
            <a:pPr>
              <a:spcBef>
                <a:spcPts val="1000"/>
              </a:spcBef>
              <a:defRPr sz="1100">
                <a:solidFill>
                  <a:srgbClr val="374151"/>
                </a:solidFill>
              </a:defRPr>
            </a:pPr>
            <a:r>
              <a:t>• Driver: 60-day dual-run overlap with legacy mainframe.</a:t>
            </a:r>
          </a:p>
          <a:p>
            <a:pPr>
              <a:spcBef>
                <a:spcPts val="1000"/>
              </a:spcBef>
              <a:defRPr sz="1100">
                <a:solidFill>
                  <a:srgbClr val="374151"/>
                </a:solidFill>
              </a:defRPr>
            </a:pPr>
            <a:r>
              <a:t>• Net Realized: $3.2M/yr locked in via license retirement.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828800"/>
            <a:ext cx="3291840" cy="4206240"/>
          </a:xfrm>
          <a:prstGeom prst="rect">
            <a:avLst/>
          </a:prstGeom>
          <a:solidFill>
            <a:srgbClr val="EEF2FF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b="1" sz="1400">
                <a:solidFill>
                  <a:srgbClr val="1F2937"/>
                </a:solidFill>
              </a:defRPr>
            </a:pPr>
            <a:r>
              <a:t>Column 3: Required Decision</a:t>
            </a:r>
          </a:p>
          <a:p>
            <a:pPr>
              <a:spcBef>
                <a:spcPts val="1000"/>
              </a:spcBef>
              <a:defRPr sz="1100">
                <a:solidFill>
                  <a:srgbClr val="374151"/>
                </a:solidFill>
              </a:defRPr>
            </a:pPr>
            <a:r>
              <a:t>• Approve $800K budget shift from IT Contingency Reserve.</a:t>
            </a:r>
          </a:p>
          <a:p>
            <a:pPr>
              <a:spcBef>
                <a:spcPts val="1000"/>
              </a:spcBef>
              <a:defRPr sz="1100">
                <a:solidFill>
                  <a:srgbClr val="374151"/>
                </a:solidFill>
              </a:defRPr>
            </a:pPr>
            <a:r>
              <a:t>• Authorizes decommissioning of legacy data center by Dec 31.</a:t>
            </a:r>
          </a:p>
          <a:p>
            <a:pPr>
              <a:spcBef>
                <a:spcPts val="1000"/>
              </a:spcBef>
              <a:defRPr sz="1100">
                <a:solidFill>
                  <a:srgbClr val="374151"/>
                </a:solidFill>
              </a:defRPr>
            </a:pPr>
            <a:r>
              <a:t>• Prevents $450K Q1 vendor maintenance penalty.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